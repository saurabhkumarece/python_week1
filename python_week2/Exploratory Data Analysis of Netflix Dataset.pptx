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8229600" cx="14630400"/>
  <p:notesSz cx="8229600" cy="14630400"/>
  <p:embeddedFontLst>
    <p:embeddedFont>
      <p:font typeface="Unbounded"/>
      <p:regular r:id="rId12"/>
      <p:bold r:id="rId13"/>
    </p:embeddedFont>
    <p:embeddedFont>
      <p:font typeface="Open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Unbounded-bold.fntdata"/><Relationship Id="rId12" Type="http://schemas.openxmlformats.org/officeDocument/2006/relationships/font" Target="fonts/Unbounded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OpenSans-bold.fntdata"/><Relationship Id="rId14" Type="http://schemas.openxmlformats.org/officeDocument/2006/relationships/font" Target="fonts/OpenSans-regular.fntdata"/><Relationship Id="rId17" Type="http://schemas.openxmlformats.org/officeDocument/2006/relationships/font" Target="fonts/OpenSans-boldItalic.fntdata"/><Relationship Id="rId16" Type="http://schemas.openxmlformats.org/officeDocument/2006/relationships/font" Target="fonts/Open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11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7" name="Google Shape;3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0"/>
          <p:cNvSpPr/>
          <p:nvPr/>
        </p:nvSpPr>
        <p:spPr>
          <a:xfrm>
            <a:off x="6280190" y="2177891"/>
            <a:ext cx="7556421" cy="2126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4450"/>
              <a:buFont typeface="Unbounded"/>
              <a:buNone/>
            </a:pPr>
            <a:r>
              <a:rPr b="1" i="0" lang="en-US" sz="44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Exploratory Data Analysis of Netflix Dataset</a:t>
            </a:r>
            <a:endParaRPr b="0" i="0" sz="4450" u="none" cap="none" strike="noStrike"/>
          </a:p>
        </p:txBody>
      </p:sp>
      <p:sp>
        <p:nvSpPr>
          <p:cNvPr id="39" name="Google Shape;39;p10"/>
          <p:cNvSpPr/>
          <p:nvPr/>
        </p:nvSpPr>
        <p:spPr>
          <a:xfrm>
            <a:off x="6280190" y="4644390"/>
            <a:ext cx="2269331" cy="426244"/>
          </a:xfrm>
          <a:prstGeom prst="roundRect">
            <a:avLst>
              <a:gd fmla="val 17880" name="adj"/>
            </a:avLst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0"/>
          <p:cNvSpPr/>
          <p:nvPr/>
        </p:nvSpPr>
        <p:spPr>
          <a:xfrm>
            <a:off x="6416278" y="4712375"/>
            <a:ext cx="1997154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DATA SCIENCE PROJECT</a:t>
            </a:r>
            <a:endParaRPr b="0" i="0" sz="1400" u="none" cap="none" strike="noStrike"/>
          </a:p>
        </p:txBody>
      </p:sp>
      <p:sp>
        <p:nvSpPr>
          <p:cNvPr id="41" name="Google Shape;41;p10"/>
          <p:cNvSpPr/>
          <p:nvPr/>
        </p:nvSpPr>
        <p:spPr>
          <a:xfrm>
            <a:off x="6280190" y="5325785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Uncovering patterns, trends, and insights hidden within Netflix's global content library through systematic exploratory data analysis.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6181011" y="570667"/>
            <a:ext cx="6144697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900"/>
              <a:buFont typeface="Unbounded"/>
              <a:buNone/>
            </a:pPr>
            <a:r>
              <a:rPr b="1" i="0" lang="en-US" sz="39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Introduction to EDA</a:t>
            </a:r>
            <a:endParaRPr b="0" i="0" sz="3900" u="none" cap="none" strike="noStrike"/>
          </a:p>
        </p:txBody>
      </p:sp>
      <p:sp>
        <p:nvSpPr>
          <p:cNvPr id="49" name="Google Shape;49;p11"/>
          <p:cNvSpPr/>
          <p:nvPr/>
        </p:nvSpPr>
        <p:spPr>
          <a:xfrm>
            <a:off x="6181011" y="1624727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950"/>
              <a:buFont typeface="Unbounded"/>
              <a:buNone/>
            </a:pPr>
            <a:r>
              <a:rPr b="1" i="0" lang="en-US" sz="19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What is EDA?</a:t>
            </a:r>
            <a:endParaRPr b="0" i="0" sz="1950" u="none" cap="none" strike="noStrike"/>
          </a:p>
        </p:txBody>
      </p:sp>
      <p:sp>
        <p:nvSpPr>
          <p:cNvPr id="50" name="Google Shape;50;p11"/>
          <p:cNvSpPr/>
          <p:nvPr/>
        </p:nvSpPr>
        <p:spPr>
          <a:xfrm>
            <a:off x="6181011" y="2108478"/>
            <a:ext cx="3635335" cy="1785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50"/>
              <a:buFont typeface="Open Sans"/>
              <a:buNone/>
            </a:pPr>
            <a:r>
              <a:rPr b="0" i="0" lang="en-US" sz="15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Exploratory Data Analysis is the practice of summarizing, visualizing, and understanding a dataset before formal modeling — revealing structure, anomalies, and relationships within the data.</a:t>
            </a:r>
            <a:endParaRPr b="0" i="0" sz="1550" u="none" cap="none" strike="noStrike"/>
          </a:p>
        </p:txBody>
      </p:sp>
      <p:sp>
        <p:nvSpPr>
          <p:cNvPr id="51" name="Google Shape;51;p11"/>
          <p:cNvSpPr/>
          <p:nvPr/>
        </p:nvSpPr>
        <p:spPr>
          <a:xfrm>
            <a:off x="6181011" y="4068008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950"/>
              <a:buFont typeface="Unbounded"/>
              <a:buNone/>
            </a:pPr>
            <a:r>
              <a:rPr b="1" i="0" lang="en-US" sz="19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Why Netflix?</a:t>
            </a:r>
            <a:endParaRPr b="0" i="0" sz="1950" u="none" cap="none" strike="noStrike"/>
          </a:p>
        </p:txBody>
      </p:sp>
      <p:sp>
        <p:nvSpPr>
          <p:cNvPr id="52" name="Google Shape;52;p11"/>
          <p:cNvSpPr/>
          <p:nvPr/>
        </p:nvSpPr>
        <p:spPr>
          <a:xfrm>
            <a:off x="6181011" y="4551759"/>
            <a:ext cx="3635335" cy="1488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50"/>
              <a:buFont typeface="Open Sans"/>
              <a:buNone/>
            </a:pPr>
            <a:r>
              <a:rPr b="0" i="0" lang="en-US" sz="15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Streaming platforms generate vast content metadata. Analyzing this data helps surface content strategies, audience trends, and regional production patterns at scale.</a:t>
            </a:r>
            <a:endParaRPr b="0" i="0" sz="1550" u="none" cap="none" strike="noStrike"/>
          </a:p>
        </p:txBody>
      </p:sp>
      <p:sp>
        <p:nvSpPr>
          <p:cNvPr id="53" name="Google Shape;53;p11"/>
          <p:cNvSpPr/>
          <p:nvPr/>
        </p:nvSpPr>
        <p:spPr>
          <a:xfrm>
            <a:off x="10308074" y="1646396"/>
            <a:ext cx="3635335" cy="2129314"/>
          </a:xfrm>
          <a:prstGeom prst="roundRect">
            <a:avLst>
              <a:gd fmla="val 5153" name="adj"/>
            </a:avLst>
          </a:prstGeom>
          <a:solidFill>
            <a:srgbClr val="FFFFFF"/>
          </a:solidFill>
          <a:ln cap="flat" cmpd="sng" w="228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/>
          <p:nvPr/>
        </p:nvSpPr>
        <p:spPr>
          <a:xfrm>
            <a:off x="10285214" y="1646396"/>
            <a:ext cx="91440" cy="2129314"/>
          </a:xfrm>
          <a:prstGeom prst="roundRect">
            <a:avLst>
              <a:gd fmla="val 91163" name="adj"/>
            </a:avLst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1"/>
          <p:cNvSpPr/>
          <p:nvPr/>
        </p:nvSpPr>
        <p:spPr>
          <a:xfrm>
            <a:off x="10597872" y="1867614"/>
            <a:ext cx="3124319" cy="620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950"/>
              <a:buFont typeface="Unbounded"/>
              <a:buNone/>
            </a:pPr>
            <a:r>
              <a:rPr b="1" i="0" lang="en-US" sz="19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Understand the Data</a:t>
            </a:r>
            <a:endParaRPr b="0" i="0" sz="1950" u="none" cap="none" strike="noStrike"/>
          </a:p>
        </p:txBody>
      </p:sp>
      <p:sp>
        <p:nvSpPr>
          <p:cNvPr id="56" name="Google Shape;56;p11"/>
          <p:cNvSpPr/>
          <p:nvPr/>
        </p:nvSpPr>
        <p:spPr>
          <a:xfrm>
            <a:off x="10597872" y="2661523"/>
            <a:ext cx="3124319" cy="892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50"/>
              <a:buFont typeface="Open Sans"/>
              <a:buNone/>
            </a:pPr>
            <a:r>
              <a:rPr b="0" i="0" lang="en-US" sz="15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Profile structure, types, and distributions before drawing conclusions.</a:t>
            </a:r>
            <a:endParaRPr b="0" i="0" sz="1550" u="none" cap="none" strike="noStrike"/>
          </a:p>
        </p:txBody>
      </p:sp>
      <p:sp>
        <p:nvSpPr>
          <p:cNvPr id="57" name="Google Shape;57;p11"/>
          <p:cNvSpPr/>
          <p:nvPr/>
        </p:nvSpPr>
        <p:spPr>
          <a:xfrm>
            <a:off x="10308074" y="3949303"/>
            <a:ext cx="3635335" cy="1521500"/>
          </a:xfrm>
          <a:prstGeom prst="roundRect">
            <a:avLst>
              <a:gd fmla="val 7212" name="adj"/>
            </a:avLst>
          </a:prstGeom>
          <a:solidFill>
            <a:srgbClr val="FFFFFF"/>
          </a:solidFill>
          <a:ln cap="flat" cmpd="sng" w="228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/>
          <p:nvPr/>
        </p:nvSpPr>
        <p:spPr>
          <a:xfrm>
            <a:off x="10285214" y="3949303"/>
            <a:ext cx="91440" cy="1521500"/>
          </a:xfrm>
          <a:prstGeom prst="roundRect">
            <a:avLst>
              <a:gd fmla="val 91163" name="adj"/>
            </a:avLst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/>
          <p:nvPr/>
        </p:nvSpPr>
        <p:spPr>
          <a:xfrm>
            <a:off x="10597872" y="4170521"/>
            <a:ext cx="2780943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950"/>
              <a:buFont typeface="Unbounded"/>
              <a:buNone/>
            </a:pPr>
            <a:r>
              <a:rPr b="1" i="0" lang="en-US" sz="19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Detect Anomalies</a:t>
            </a:r>
            <a:endParaRPr b="0" i="0" sz="1950" u="none" cap="none" strike="noStrike"/>
          </a:p>
        </p:txBody>
      </p:sp>
      <p:sp>
        <p:nvSpPr>
          <p:cNvPr id="60" name="Google Shape;60;p11"/>
          <p:cNvSpPr/>
          <p:nvPr/>
        </p:nvSpPr>
        <p:spPr>
          <a:xfrm>
            <a:off x="10597872" y="4654272"/>
            <a:ext cx="3124319" cy="595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50"/>
              <a:buFont typeface="Open Sans"/>
              <a:buNone/>
            </a:pPr>
            <a:r>
              <a:rPr b="0" i="0" lang="en-US" sz="15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Identify missing values, outliers, and inconsistencies early.</a:t>
            </a:r>
            <a:endParaRPr b="0" i="0" sz="1550" u="none" cap="none" strike="noStrike"/>
          </a:p>
        </p:txBody>
      </p:sp>
      <p:sp>
        <p:nvSpPr>
          <p:cNvPr id="61" name="Google Shape;61;p11"/>
          <p:cNvSpPr/>
          <p:nvPr/>
        </p:nvSpPr>
        <p:spPr>
          <a:xfrm>
            <a:off x="10308074" y="5644396"/>
            <a:ext cx="3635335" cy="1819156"/>
          </a:xfrm>
          <a:prstGeom prst="roundRect">
            <a:avLst>
              <a:gd fmla="val 6032" name="adj"/>
            </a:avLst>
          </a:prstGeom>
          <a:solidFill>
            <a:srgbClr val="FFFFFF"/>
          </a:solidFill>
          <a:ln cap="flat" cmpd="sng" w="228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1"/>
          <p:cNvSpPr/>
          <p:nvPr/>
        </p:nvSpPr>
        <p:spPr>
          <a:xfrm>
            <a:off x="10285214" y="5644396"/>
            <a:ext cx="91440" cy="1819156"/>
          </a:xfrm>
          <a:prstGeom prst="roundRect">
            <a:avLst>
              <a:gd fmla="val 91163" name="adj"/>
            </a:avLst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1"/>
          <p:cNvSpPr/>
          <p:nvPr/>
        </p:nvSpPr>
        <p:spPr>
          <a:xfrm>
            <a:off x="10597872" y="5865614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950"/>
              <a:buFont typeface="Unbounded"/>
              <a:buNone/>
            </a:pPr>
            <a:r>
              <a:rPr b="1" i="0" lang="en-US" sz="19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Drive Decisions</a:t>
            </a:r>
            <a:endParaRPr b="0" i="0" sz="1950" u="none" cap="none" strike="noStrike"/>
          </a:p>
        </p:txBody>
      </p:sp>
      <p:sp>
        <p:nvSpPr>
          <p:cNvPr id="64" name="Google Shape;64;p11"/>
          <p:cNvSpPr/>
          <p:nvPr/>
        </p:nvSpPr>
        <p:spPr>
          <a:xfrm>
            <a:off x="10597872" y="6349365"/>
            <a:ext cx="3124319" cy="892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50"/>
              <a:buFont typeface="Open Sans"/>
              <a:buNone/>
            </a:pPr>
            <a:r>
              <a:rPr b="0" i="0" lang="en-US" sz="15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Inform content strategy, recommendation engines, and ML pipelines.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/>
          <p:nvPr/>
        </p:nvSpPr>
        <p:spPr>
          <a:xfrm>
            <a:off x="744260" y="610910"/>
            <a:ext cx="6046827" cy="664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4150"/>
              <a:buFont typeface="Unbounded"/>
              <a:buNone/>
            </a:pPr>
            <a:r>
              <a:rPr b="1" i="0" lang="en-US" sz="41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Dataset Overview</a:t>
            </a:r>
            <a:endParaRPr b="0" i="0" sz="4150" u="none" cap="none" strike="noStrike"/>
          </a:p>
        </p:txBody>
      </p:sp>
      <p:sp>
        <p:nvSpPr>
          <p:cNvPr id="71" name="Google Shape;71;p12"/>
          <p:cNvSpPr/>
          <p:nvPr/>
        </p:nvSpPr>
        <p:spPr>
          <a:xfrm>
            <a:off x="744260" y="1674019"/>
            <a:ext cx="13141881" cy="32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650"/>
              <a:buFont typeface="Open Sans"/>
              <a:buNone/>
            </a:pPr>
            <a:r>
              <a:rPr b="0" i="0" lang="en-US" sz="16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The Netflix Movies and TV Shows dataset contains over </a:t>
            </a:r>
            <a:r>
              <a:rPr b="1" i="0" lang="en-US" sz="16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8,800 records</a:t>
            </a:r>
            <a:r>
              <a:rPr b="0" i="0" lang="en-US" sz="16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spanning content added through 2021, sourced from Kaggle.</a:t>
            </a:r>
            <a:endParaRPr b="0" i="0" sz="1650" u="none" cap="none" strike="noStrike"/>
          </a:p>
        </p:txBody>
      </p:sp>
      <p:pic>
        <p:nvPicPr>
          <p:cNvPr descr="preencoded.png" id="72" name="Google Shape;7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4260" y="2227778"/>
            <a:ext cx="425291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2"/>
          <p:cNvSpPr/>
          <p:nvPr/>
        </p:nvSpPr>
        <p:spPr>
          <a:xfrm>
            <a:off x="744260" y="2902268"/>
            <a:ext cx="2658070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050"/>
              <a:buFont typeface="Unbounded"/>
              <a:buNone/>
            </a:pPr>
            <a:r>
              <a:rPr b="1" i="0" lang="en-US" sz="20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Content Type</a:t>
            </a:r>
            <a:endParaRPr b="0" i="0" sz="2050" u="none" cap="none" strike="noStrike"/>
          </a:p>
        </p:txBody>
      </p:sp>
      <p:sp>
        <p:nvSpPr>
          <p:cNvPr id="74" name="Google Shape;74;p12"/>
          <p:cNvSpPr/>
          <p:nvPr/>
        </p:nvSpPr>
        <p:spPr>
          <a:xfrm>
            <a:off x="744260" y="3354110"/>
            <a:ext cx="6446282" cy="65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650"/>
              <a:buFont typeface="Open Sans"/>
              <a:buNone/>
            </a:pPr>
            <a:r>
              <a:rPr b="0" i="0" lang="en-US" sz="16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Categorical: </a:t>
            </a:r>
            <a:r>
              <a:rPr b="1" i="0" lang="en-US" sz="16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Movie</a:t>
            </a:r>
            <a:r>
              <a:rPr b="0" i="0" lang="en-US" sz="16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or </a:t>
            </a:r>
            <a:r>
              <a:rPr b="1" i="0" lang="en-US" sz="16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TV Show</a:t>
            </a:r>
            <a:r>
              <a:rPr b="0" i="0" lang="en-US" sz="16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— the primary split for all downstream analysis.</a:t>
            </a:r>
            <a:endParaRPr b="0" i="0" sz="1650" u="none" cap="none" strike="noStrike"/>
          </a:p>
        </p:txBody>
      </p:sp>
      <p:pic>
        <p:nvPicPr>
          <p:cNvPr descr="preencoded.png" id="75" name="Google Shape;7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39739" y="2227778"/>
            <a:ext cx="425291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2"/>
          <p:cNvSpPr/>
          <p:nvPr/>
        </p:nvSpPr>
        <p:spPr>
          <a:xfrm>
            <a:off x="7439739" y="2902268"/>
            <a:ext cx="2658070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050"/>
              <a:buFont typeface="Unbounded"/>
              <a:buNone/>
            </a:pPr>
            <a:r>
              <a:rPr b="1" i="0" lang="en-US" sz="20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Geography</a:t>
            </a:r>
            <a:endParaRPr b="0" i="0" sz="2050" u="none" cap="none" strike="noStrike"/>
          </a:p>
        </p:txBody>
      </p:sp>
      <p:sp>
        <p:nvSpPr>
          <p:cNvPr id="77" name="Google Shape;77;p12"/>
          <p:cNvSpPr/>
          <p:nvPr/>
        </p:nvSpPr>
        <p:spPr>
          <a:xfrm>
            <a:off x="7439739" y="3354110"/>
            <a:ext cx="6446401" cy="65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650"/>
              <a:buFont typeface="Open Sans"/>
              <a:buNone/>
            </a:pPr>
            <a:r>
              <a:rPr b="0" i="0" lang="en-US" sz="16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Country of origin — identifies regional production hubs and global reach.</a:t>
            </a:r>
            <a:endParaRPr b="0" i="0" sz="1650" u="none" cap="none" strike="noStrike"/>
          </a:p>
        </p:txBody>
      </p:sp>
      <p:pic>
        <p:nvPicPr>
          <p:cNvPr descr="preencoded.png" id="78" name="Google Shape;7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4260" y="4411861"/>
            <a:ext cx="425291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2"/>
          <p:cNvSpPr/>
          <p:nvPr/>
        </p:nvSpPr>
        <p:spPr>
          <a:xfrm>
            <a:off x="744260" y="5086350"/>
            <a:ext cx="3155275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050"/>
              <a:buFont typeface="Unbounded"/>
              <a:buNone/>
            </a:pPr>
            <a:r>
              <a:rPr b="1" i="0" lang="en-US" sz="20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Temporal Features</a:t>
            </a:r>
            <a:endParaRPr b="0" i="0" sz="2050" u="none" cap="none" strike="noStrike"/>
          </a:p>
        </p:txBody>
      </p:sp>
      <p:sp>
        <p:nvSpPr>
          <p:cNvPr id="80" name="Google Shape;80;p12"/>
          <p:cNvSpPr/>
          <p:nvPr/>
        </p:nvSpPr>
        <p:spPr>
          <a:xfrm>
            <a:off x="744260" y="5538192"/>
            <a:ext cx="6446282" cy="65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650"/>
              <a:buFont typeface="Open Sans"/>
              <a:buNone/>
            </a:pPr>
            <a:r>
              <a:rPr b="0" i="0" lang="en-US" sz="16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Release year and date added — enables trend and growth analysis over time.</a:t>
            </a:r>
            <a:endParaRPr b="0" i="0" sz="1650" u="none" cap="none" strike="noStrike"/>
          </a:p>
        </p:txBody>
      </p:sp>
      <p:pic>
        <p:nvPicPr>
          <p:cNvPr descr="preencoded.png" id="81" name="Google Shape;81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39739" y="4411861"/>
            <a:ext cx="425291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2"/>
          <p:cNvSpPr/>
          <p:nvPr/>
        </p:nvSpPr>
        <p:spPr>
          <a:xfrm>
            <a:off x="7439739" y="5086350"/>
            <a:ext cx="2658070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050"/>
              <a:buFont typeface="Unbounded"/>
              <a:buNone/>
            </a:pPr>
            <a:r>
              <a:rPr b="1" i="0" lang="en-US" sz="20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Rating &amp; Genre</a:t>
            </a:r>
            <a:endParaRPr b="0" i="0" sz="2050" u="none" cap="none" strike="noStrike"/>
          </a:p>
        </p:txBody>
      </p:sp>
      <p:sp>
        <p:nvSpPr>
          <p:cNvPr id="83" name="Google Shape;83;p12"/>
          <p:cNvSpPr/>
          <p:nvPr/>
        </p:nvSpPr>
        <p:spPr>
          <a:xfrm>
            <a:off x="7439739" y="5538192"/>
            <a:ext cx="6446401" cy="65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650"/>
              <a:buFont typeface="Open Sans"/>
              <a:buNone/>
            </a:pPr>
            <a:r>
              <a:rPr b="0" i="0" lang="en-US" sz="16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Content maturity ratings (TV-MA, PG-13) and genre/listed categories.</a:t>
            </a:r>
            <a:endParaRPr b="0" i="0" sz="1650" u="none" cap="none" strike="noStrike"/>
          </a:p>
        </p:txBody>
      </p:sp>
      <p:sp>
        <p:nvSpPr>
          <p:cNvPr id="84" name="Google Shape;84;p12"/>
          <p:cNvSpPr/>
          <p:nvPr/>
        </p:nvSpPr>
        <p:spPr>
          <a:xfrm>
            <a:off x="744260" y="6421517"/>
            <a:ext cx="13141881" cy="1197173"/>
          </a:xfrm>
          <a:prstGeom prst="roundRect">
            <a:avLst>
              <a:gd fmla="val 7460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6905" y="6745010"/>
            <a:ext cx="265748" cy="21264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/>
          <p:nvPr/>
        </p:nvSpPr>
        <p:spPr>
          <a:xfrm>
            <a:off x="1435298" y="6673929"/>
            <a:ext cx="12238196" cy="65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Open Sans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Key variable types — </a:t>
            </a:r>
            <a:r>
              <a:rPr b="1" i="0" lang="en-US" sz="16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Categorical:</a:t>
            </a:r>
            <a:r>
              <a:rPr b="0" i="0" lang="en-US" sz="16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type, country, rating, genre  |  </a:t>
            </a:r>
            <a:r>
              <a:rPr b="1" i="0" lang="en-US" sz="16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Numerical:</a:t>
            </a:r>
            <a:r>
              <a:rPr b="0" i="0" lang="en-US" sz="16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release_year, duration  |  </a:t>
            </a:r>
            <a:r>
              <a:rPr b="1" i="0" lang="en-US" sz="16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Datetime:</a:t>
            </a:r>
            <a:r>
              <a:rPr b="0" i="0" lang="en-US" sz="16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date_added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/>
          <p:nvPr/>
        </p:nvSpPr>
        <p:spPr>
          <a:xfrm>
            <a:off x="694611" y="622697"/>
            <a:ext cx="9655850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900"/>
              <a:buFont typeface="Unbounded"/>
              <a:buNone/>
            </a:pPr>
            <a:r>
              <a:rPr b="1" i="0" lang="en-US" sz="39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Data Cleaning &amp; Preprocessing</a:t>
            </a:r>
            <a:endParaRPr b="0" i="0" sz="3900" u="none" cap="none" strike="noStrike"/>
          </a:p>
        </p:txBody>
      </p:sp>
      <p:pic>
        <p:nvPicPr>
          <p:cNvPr descr="preencoded.png" id="93" name="Google Shape;9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903" y="2271117"/>
            <a:ext cx="8338661" cy="38163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4" name="Google Shape;9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06504" y="3223948"/>
            <a:ext cx="536134" cy="53613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/>
          <p:nvPr/>
        </p:nvSpPr>
        <p:spPr>
          <a:xfrm>
            <a:off x="7128841" y="5030386"/>
            <a:ext cx="1565513" cy="603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850"/>
              <a:buFont typeface="Unbounded"/>
              <a:buNone/>
            </a:pPr>
            <a:r>
              <a:rPr b="1" i="0" lang="en-US" sz="18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Validate &amp; Export</a:t>
            </a:r>
            <a:endParaRPr b="0" i="0" sz="1850" u="none" cap="none" strike="noStrike"/>
          </a:p>
        </p:txBody>
      </p:sp>
      <p:pic>
        <p:nvPicPr>
          <p:cNvPr descr="preencoded.png" id="96" name="Google Shape;9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43749" y="3224953"/>
            <a:ext cx="536135" cy="53613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/>
          <p:nvPr/>
        </p:nvSpPr>
        <p:spPr>
          <a:xfrm>
            <a:off x="5155866" y="5030386"/>
            <a:ext cx="1565513" cy="603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850"/>
              <a:buFont typeface="Unbounded"/>
              <a:buNone/>
            </a:pPr>
            <a:r>
              <a:rPr b="1" i="0" lang="en-US" sz="18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Feature Engineer</a:t>
            </a:r>
            <a:endParaRPr b="0" i="0" sz="1850" u="none" cap="none" strike="noStrike"/>
          </a:p>
        </p:txBody>
      </p:sp>
      <p:pic>
        <p:nvPicPr>
          <p:cNvPr descr="preencoded.png" id="98" name="Google Shape;9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81496" y="3224953"/>
            <a:ext cx="536135" cy="53613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/>
          <p:nvPr/>
        </p:nvSpPr>
        <p:spPr>
          <a:xfrm>
            <a:off x="3193614" y="5030386"/>
            <a:ext cx="1565513" cy="603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850"/>
              <a:buFont typeface="Unbounded"/>
              <a:buNone/>
            </a:pPr>
            <a:r>
              <a:rPr b="1" i="0" lang="en-US" sz="18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Parse Dates</a:t>
            </a:r>
            <a:endParaRPr b="0" i="0" sz="1850" u="none" cap="none" strike="noStrike"/>
          </a:p>
        </p:txBody>
      </p:sp>
      <p:pic>
        <p:nvPicPr>
          <p:cNvPr descr="preencoded.png" id="100" name="Google Shape;100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08521" y="3224953"/>
            <a:ext cx="536134" cy="53613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3"/>
          <p:cNvSpPr/>
          <p:nvPr/>
        </p:nvSpPr>
        <p:spPr>
          <a:xfrm>
            <a:off x="1188471" y="5030386"/>
            <a:ext cx="1565513" cy="603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850"/>
              <a:buFont typeface="Unbounded"/>
              <a:buNone/>
            </a:pPr>
            <a:r>
              <a:rPr b="1" i="0" lang="en-US" sz="18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Handle Missing</a:t>
            </a:r>
            <a:endParaRPr b="0" i="0" sz="1850" u="none" cap="none" strike="noStrike"/>
          </a:p>
        </p:txBody>
      </p:sp>
      <p:sp>
        <p:nvSpPr>
          <p:cNvPr id="102" name="Google Shape;102;p13"/>
          <p:cNvSpPr/>
          <p:nvPr/>
        </p:nvSpPr>
        <p:spPr>
          <a:xfrm>
            <a:off x="694611" y="6282690"/>
            <a:ext cx="8437245" cy="595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50"/>
              <a:buFont typeface="Open Sans"/>
              <a:buNone/>
            </a:pPr>
            <a:r>
              <a:rPr b="0" i="0" lang="en-US" sz="15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structured preprocessing pipeline ensures the dataset is analysis-ready, reproducible, and free of ambiguities that could skew downstream visualizations.</a:t>
            </a:r>
            <a:endParaRPr b="0" i="0" sz="1550" u="none" cap="none" strike="noStrike"/>
          </a:p>
        </p:txBody>
      </p:sp>
      <p:sp>
        <p:nvSpPr>
          <p:cNvPr id="103" name="Google Shape;103;p13"/>
          <p:cNvSpPr/>
          <p:nvPr/>
        </p:nvSpPr>
        <p:spPr>
          <a:xfrm>
            <a:off x="9623584" y="1698427"/>
            <a:ext cx="4319707" cy="1788676"/>
          </a:xfrm>
          <a:prstGeom prst="roundRect">
            <a:avLst>
              <a:gd fmla="val 4660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3"/>
          <p:cNvSpPr/>
          <p:nvPr/>
        </p:nvSpPr>
        <p:spPr>
          <a:xfrm>
            <a:off x="9829562" y="1904405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950"/>
              <a:buFont typeface="Unbounded"/>
              <a:buNone/>
            </a:pPr>
            <a:r>
              <a:rPr b="1" i="0" lang="en-US" sz="19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Missing Values</a:t>
            </a:r>
            <a:endParaRPr b="0" i="0" sz="1950" u="none" cap="none" strike="noStrike"/>
          </a:p>
        </p:txBody>
      </p:sp>
      <p:sp>
        <p:nvSpPr>
          <p:cNvPr id="105" name="Google Shape;105;p13"/>
          <p:cNvSpPr/>
          <p:nvPr/>
        </p:nvSpPr>
        <p:spPr>
          <a:xfrm>
            <a:off x="9829562" y="2388156"/>
            <a:ext cx="3907750" cy="892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50"/>
              <a:buFont typeface="Open Sans"/>
              <a:buNone/>
            </a:pPr>
            <a:r>
              <a:rPr b="1" i="0" lang="en-US" sz="15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director</a:t>
            </a:r>
            <a:r>
              <a:rPr b="0" i="0" lang="en-US" sz="15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1" i="0" lang="en-US" sz="15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cast</a:t>
            </a:r>
            <a:r>
              <a:rPr b="0" i="0" lang="en-US" sz="15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, and </a:t>
            </a:r>
            <a:r>
              <a:rPr b="1" i="0" lang="en-US" sz="15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country</a:t>
            </a:r>
            <a:r>
              <a:rPr b="0" i="0" lang="en-US" sz="15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fields contain the most nulls — handled via mode imputation or flagged as "Unknown."</a:t>
            </a:r>
            <a:endParaRPr b="0" i="0" sz="1550" u="none" cap="none" strike="noStrike"/>
          </a:p>
        </p:txBody>
      </p:sp>
      <p:sp>
        <p:nvSpPr>
          <p:cNvPr id="106" name="Google Shape;106;p13"/>
          <p:cNvSpPr/>
          <p:nvPr/>
        </p:nvSpPr>
        <p:spPr>
          <a:xfrm>
            <a:off x="9623584" y="3660696"/>
            <a:ext cx="4319707" cy="1788676"/>
          </a:xfrm>
          <a:prstGeom prst="roundRect">
            <a:avLst>
              <a:gd fmla="val 4660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3"/>
          <p:cNvSpPr/>
          <p:nvPr/>
        </p:nvSpPr>
        <p:spPr>
          <a:xfrm>
            <a:off x="9829562" y="3866674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950"/>
              <a:buFont typeface="Unbounded"/>
              <a:buNone/>
            </a:pPr>
            <a:r>
              <a:rPr b="1" i="0" lang="en-US" sz="19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Date Parsing</a:t>
            </a:r>
            <a:endParaRPr b="0" i="0" sz="1950" u="none" cap="none" strike="noStrike"/>
          </a:p>
        </p:txBody>
      </p:sp>
      <p:sp>
        <p:nvSpPr>
          <p:cNvPr id="108" name="Google Shape;108;p13"/>
          <p:cNvSpPr/>
          <p:nvPr/>
        </p:nvSpPr>
        <p:spPr>
          <a:xfrm>
            <a:off x="9829562" y="4350425"/>
            <a:ext cx="3907750" cy="892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50"/>
              <a:buFont typeface="Consolas"/>
              <a:buNone/>
            </a:pPr>
            <a:r>
              <a:rPr b="0" i="0" lang="en-US" sz="1550" u="none" cap="none" strike="noStrike">
                <a:solidFill>
                  <a:srgbClr val="333F7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pd.to_datetime()</a:t>
            </a:r>
            <a:r>
              <a:rPr b="0" i="0" lang="en-US" sz="15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converts </a:t>
            </a:r>
            <a:r>
              <a:rPr b="1" i="0" lang="en-US" sz="15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date_added</a:t>
            </a:r>
            <a:r>
              <a:rPr b="0" i="0" lang="en-US" sz="15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from raw strings to structured datetime objects.</a:t>
            </a:r>
            <a:endParaRPr b="0" i="0" sz="1550" u="none" cap="none" strike="noStrike"/>
          </a:p>
        </p:txBody>
      </p:sp>
      <p:sp>
        <p:nvSpPr>
          <p:cNvPr id="109" name="Google Shape;109;p13"/>
          <p:cNvSpPr/>
          <p:nvPr/>
        </p:nvSpPr>
        <p:spPr>
          <a:xfrm>
            <a:off x="9623584" y="5622965"/>
            <a:ext cx="4319707" cy="1788676"/>
          </a:xfrm>
          <a:prstGeom prst="roundRect">
            <a:avLst>
              <a:gd fmla="val 4660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3"/>
          <p:cNvSpPr/>
          <p:nvPr/>
        </p:nvSpPr>
        <p:spPr>
          <a:xfrm>
            <a:off x="9829562" y="5828943"/>
            <a:ext cx="3137297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950"/>
              <a:buFont typeface="Unbounded"/>
              <a:buNone/>
            </a:pPr>
            <a:r>
              <a:rPr b="1" i="0" lang="en-US" sz="19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Feature Engineering</a:t>
            </a:r>
            <a:endParaRPr b="0" i="0" sz="1950" u="none" cap="none" strike="noStrike"/>
          </a:p>
        </p:txBody>
      </p:sp>
      <p:sp>
        <p:nvSpPr>
          <p:cNvPr id="111" name="Google Shape;111;p13"/>
          <p:cNvSpPr/>
          <p:nvPr/>
        </p:nvSpPr>
        <p:spPr>
          <a:xfrm>
            <a:off x="9829562" y="6312694"/>
            <a:ext cx="3907750" cy="892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50"/>
              <a:buFont typeface="Open Sans"/>
              <a:buNone/>
            </a:pPr>
            <a:r>
              <a:rPr b="0" i="0" lang="en-US" sz="15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New columns </a:t>
            </a:r>
            <a:r>
              <a:rPr b="1" i="0" lang="en-US" sz="15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year_added</a:t>
            </a:r>
            <a:r>
              <a:rPr b="0" i="0" lang="en-US" sz="15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b="1" i="0" lang="en-US" sz="15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month_added</a:t>
            </a:r>
            <a:r>
              <a:rPr b="0" i="0" lang="en-US" sz="15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extracted to enable time-series and seasonality analysis.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/>
          <p:nvPr/>
        </p:nvSpPr>
        <p:spPr>
          <a:xfrm>
            <a:off x="793790" y="996196"/>
            <a:ext cx="650271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4450"/>
              <a:buFont typeface="Unbounded"/>
              <a:buNone/>
            </a:pPr>
            <a:r>
              <a:rPr b="1" i="0" lang="en-US" sz="44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Key Visualizations</a:t>
            </a:r>
            <a:endParaRPr b="0" i="0" sz="4450" u="none" cap="none" strike="noStrike"/>
          </a:p>
        </p:txBody>
      </p:sp>
      <p:sp>
        <p:nvSpPr>
          <p:cNvPr id="118" name="Google Shape;118;p14"/>
          <p:cNvSpPr/>
          <p:nvPr/>
        </p:nvSpPr>
        <p:spPr>
          <a:xfrm>
            <a:off x="793790" y="2158603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Five core visual analyses reveal the shape of Netflix's content strategy across format, time, geography, genre, and audience rating.</a:t>
            </a:r>
            <a:endParaRPr b="0" i="0" sz="1750" u="none" cap="none" strike="noStrike"/>
          </a:p>
        </p:txBody>
      </p:sp>
      <p:pic>
        <p:nvPicPr>
          <p:cNvPr descr="preencoded.png" id="119" name="Google Shape;1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139559"/>
            <a:ext cx="883920" cy="54625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1961197" y="3139559"/>
            <a:ext cx="1880592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200"/>
              <a:buFont typeface="Unbounded"/>
              <a:buNone/>
            </a:pPr>
            <a:r>
              <a:rPr b="1" i="0" lang="en-US" sz="22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Movies vs. TV Shows</a:t>
            </a:r>
            <a:endParaRPr b="0" i="0" sz="2200" u="none" cap="none" strike="noStrike"/>
          </a:p>
        </p:txBody>
      </p:sp>
      <p:sp>
        <p:nvSpPr>
          <p:cNvPr id="121" name="Google Shape;121;p14"/>
          <p:cNvSpPr/>
          <p:nvPr/>
        </p:nvSpPr>
        <p:spPr>
          <a:xfrm>
            <a:off x="1961197" y="3984308"/>
            <a:ext cx="1880592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donut chart reveals that </a:t>
            </a:r>
            <a:r>
              <a:rPr b="1" i="0" lang="en-US" sz="1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Movies (~70%)</a:t>
            </a:r>
            <a:r>
              <a:rPr b="0" i="0" lang="en-US" sz="1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significantly outnumber TV Shows on the platform.</a:t>
            </a:r>
            <a:endParaRPr b="0" i="0" sz="1750" u="none" cap="none" strike="noStrike"/>
          </a:p>
        </p:txBody>
      </p:sp>
      <p:pic>
        <p:nvPicPr>
          <p:cNvPr descr="preencoded.png" id="122" name="Google Shape;12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5278" y="3139559"/>
            <a:ext cx="883920" cy="546259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4"/>
          <p:cNvSpPr/>
          <p:nvPr/>
        </p:nvSpPr>
        <p:spPr>
          <a:xfrm>
            <a:off x="5292685" y="3139559"/>
            <a:ext cx="1880711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200"/>
              <a:buFont typeface="Unbounded"/>
              <a:buNone/>
            </a:pPr>
            <a:r>
              <a:rPr b="1" i="0" lang="en-US" sz="22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Content Growth Over Years</a:t>
            </a:r>
            <a:endParaRPr b="0" i="0" sz="2200" u="none" cap="none" strike="noStrike"/>
          </a:p>
        </p:txBody>
      </p:sp>
      <p:sp>
        <p:nvSpPr>
          <p:cNvPr id="124" name="Google Shape;124;p14"/>
          <p:cNvSpPr/>
          <p:nvPr/>
        </p:nvSpPr>
        <p:spPr>
          <a:xfrm>
            <a:off x="5292685" y="4692968"/>
            <a:ext cx="1880711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time-series line chart shows </a:t>
            </a:r>
            <a:r>
              <a:rPr b="1" i="0" lang="en-US" sz="1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exponential library growth</a:t>
            </a:r>
            <a:r>
              <a:rPr b="0" i="0" lang="en-US" sz="1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post-2015, peaking around 2019–2020.</a:t>
            </a:r>
            <a:endParaRPr b="0" i="0" sz="1750" u="none" cap="none" strike="noStrike"/>
          </a:p>
        </p:txBody>
      </p:sp>
      <p:pic>
        <p:nvPicPr>
          <p:cNvPr descr="preencoded.png" id="125" name="Google Shape;12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56884" y="3139559"/>
            <a:ext cx="883920" cy="5462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4"/>
          <p:cNvSpPr/>
          <p:nvPr/>
        </p:nvSpPr>
        <p:spPr>
          <a:xfrm>
            <a:off x="8624292" y="3139559"/>
            <a:ext cx="1880711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200"/>
              <a:buFont typeface="Unbounded"/>
              <a:buNone/>
            </a:pPr>
            <a:r>
              <a:rPr b="1" i="0" lang="en-US" sz="22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Top Content-Producing Countries</a:t>
            </a:r>
            <a:endParaRPr b="0" i="0" sz="2200" u="none" cap="none" strike="noStrike"/>
          </a:p>
        </p:txBody>
      </p:sp>
      <p:sp>
        <p:nvSpPr>
          <p:cNvPr id="127" name="Google Shape;127;p14"/>
          <p:cNvSpPr/>
          <p:nvPr/>
        </p:nvSpPr>
        <p:spPr>
          <a:xfrm>
            <a:off x="8624292" y="4692968"/>
            <a:ext cx="1880711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horizontal bar chart ranks the </a:t>
            </a:r>
            <a:r>
              <a:rPr b="1" i="0" lang="en-US" sz="1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USA, India, and the UK</a:t>
            </a:r>
            <a:r>
              <a:rPr b="0" i="0" lang="en-US" sz="1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as the top three content contributors.</a:t>
            </a:r>
            <a:endParaRPr b="0" i="0" sz="1750" u="none" cap="none" strike="noStrike"/>
          </a:p>
        </p:txBody>
      </p:sp>
      <p:pic>
        <p:nvPicPr>
          <p:cNvPr descr="preencoded.png" id="128" name="Google Shape;12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88491" y="3139559"/>
            <a:ext cx="883920" cy="546259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4"/>
          <p:cNvSpPr/>
          <p:nvPr/>
        </p:nvSpPr>
        <p:spPr>
          <a:xfrm>
            <a:off x="11955899" y="3139559"/>
            <a:ext cx="1880711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200"/>
              <a:buFont typeface="Unbounded"/>
              <a:buNone/>
            </a:pPr>
            <a:r>
              <a:rPr b="1" i="0" lang="en-US" sz="22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Genre &amp; Rating Distribution</a:t>
            </a:r>
            <a:endParaRPr b="0" i="0" sz="2200" u="none" cap="none" strike="noStrike"/>
          </a:p>
        </p:txBody>
      </p:sp>
      <p:sp>
        <p:nvSpPr>
          <p:cNvPr id="130" name="Google Shape;130;p14"/>
          <p:cNvSpPr/>
          <p:nvPr/>
        </p:nvSpPr>
        <p:spPr>
          <a:xfrm>
            <a:off x="11955899" y="4692968"/>
            <a:ext cx="1880711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b="1" i="0" lang="en-US" sz="1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Drama and Comedy</a:t>
            </a:r>
            <a:r>
              <a:rPr b="0" i="0" lang="en-US" sz="1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lead genre counts; </a:t>
            </a:r>
            <a:r>
              <a:rPr b="1" i="0" lang="en-US" sz="1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TV-MA</a:t>
            </a:r>
            <a:r>
              <a:rPr b="0" i="0" lang="en-US" sz="1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is the most common content rating across both types.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6" name="Google Shape;13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/>
          <p:nvPr/>
        </p:nvSpPr>
        <p:spPr>
          <a:xfrm>
            <a:off x="6044565" y="479822"/>
            <a:ext cx="4740831" cy="498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100"/>
              <a:buFont typeface="Unbounded"/>
              <a:buNone/>
            </a:pPr>
            <a:r>
              <a:rPr b="1" i="0" lang="en-US" sz="31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Insights &amp; Findings</a:t>
            </a:r>
            <a:endParaRPr b="0" i="0" sz="3100" u="none" cap="none" strike="noStrike"/>
          </a:p>
        </p:txBody>
      </p:sp>
      <p:sp>
        <p:nvSpPr>
          <p:cNvPr id="138" name="Google Shape;138;p15"/>
          <p:cNvSpPr/>
          <p:nvPr/>
        </p:nvSpPr>
        <p:spPr>
          <a:xfrm>
            <a:off x="6044565" y="1146334"/>
            <a:ext cx="8027670" cy="1458158"/>
          </a:xfrm>
          <a:prstGeom prst="roundRect">
            <a:avLst>
              <a:gd fmla="val 4594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6211610" y="1313378"/>
            <a:ext cx="478393" cy="478393"/>
          </a:xfrm>
          <a:prstGeom prst="roundRect">
            <a:avLst>
              <a:gd fmla="val 19112081" name="adj"/>
            </a:avLst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" name="Google Shape;14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174" y="1444943"/>
            <a:ext cx="215265" cy="21526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/>
          <p:nvPr/>
        </p:nvSpPr>
        <p:spPr>
          <a:xfrm>
            <a:off x="6211610" y="1903809"/>
            <a:ext cx="2186345" cy="249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Movies Dominate</a:t>
            </a:r>
            <a:endParaRPr b="0" i="0" sz="1550" u="none" cap="none" strike="noStrike"/>
          </a:p>
        </p:txBody>
      </p:sp>
      <p:sp>
        <p:nvSpPr>
          <p:cNvPr id="142" name="Google Shape;142;p15"/>
          <p:cNvSpPr/>
          <p:nvPr/>
        </p:nvSpPr>
        <p:spPr>
          <a:xfrm>
            <a:off x="6211610" y="2220158"/>
            <a:ext cx="7693581" cy="217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~70% of all Netflix content is movies, reflecting a deliberate strategy to build a broad cinematic library.</a:t>
            </a:r>
            <a:endParaRPr b="0" i="0" sz="1250" u="none" cap="none" strike="noStrike"/>
          </a:p>
        </p:txBody>
      </p:sp>
      <p:sp>
        <p:nvSpPr>
          <p:cNvPr id="143" name="Google Shape;143;p15"/>
          <p:cNvSpPr/>
          <p:nvPr/>
        </p:nvSpPr>
        <p:spPr>
          <a:xfrm>
            <a:off x="6044565" y="2716530"/>
            <a:ext cx="8027670" cy="1675448"/>
          </a:xfrm>
          <a:prstGeom prst="roundRect">
            <a:avLst>
              <a:gd fmla="val 3998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6211610" y="2883575"/>
            <a:ext cx="478393" cy="478393"/>
          </a:xfrm>
          <a:prstGeom prst="roundRect">
            <a:avLst>
              <a:gd fmla="val 19112081" name="adj"/>
            </a:avLst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" name="Google Shape;14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174" y="3015139"/>
            <a:ext cx="215265" cy="21526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/>
          <p:nvPr/>
        </p:nvSpPr>
        <p:spPr>
          <a:xfrm>
            <a:off x="6211610" y="3474006"/>
            <a:ext cx="2057757" cy="249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Post-2015 Surge</a:t>
            </a:r>
            <a:endParaRPr b="0" i="0" sz="1550" u="none" cap="none" strike="noStrike"/>
          </a:p>
        </p:txBody>
      </p:sp>
      <p:sp>
        <p:nvSpPr>
          <p:cNvPr id="147" name="Google Shape;147;p15"/>
          <p:cNvSpPr/>
          <p:nvPr/>
        </p:nvSpPr>
        <p:spPr>
          <a:xfrm>
            <a:off x="6211610" y="3790355"/>
            <a:ext cx="7693581" cy="434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Rapid content expansion began after 2015 as Netflix accelerated its global originals and licensing investments.</a:t>
            </a:r>
            <a:endParaRPr b="0" i="0" sz="1250" u="none" cap="none" strike="noStrike"/>
          </a:p>
        </p:txBody>
      </p:sp>
      <p:sp>
        <p:nvSpPr>
          <p:cNvPr id="148" name="Google Shape;148;p15"/>
          <p:cNvSpPr/>
          <p:nvPr/>
        </p:nvSpPr>
        <p:spPr>
          <a:xfrm>
            <a:off x="6044565" y="4504015"/>
            <a:ext cx="8027670" cy="1458158"/>
          </a:xfrm>
          <a:prstGeom prst="roundRect">
            <a:avLst>
              <a:gd fmla="val 4594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5"/>
          <p:cNvSpPr/>
          <p:nvPr/>
        </p:nvSpPr>
        <p:spPr>
          <a:xfrm>
            <a:off x="6211610" y="4671060"/>
            <a:ext cx="478393" cy="478393"/>
          </a:xfrm>
          <a:prstGeom prst="roundRect">
            <a:avLst>
              <a:gd fmla="val 19112081" name="adj"/>
            </a:avLst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174" y="4802624"/>
            <a:ext cx="215265" cy="21526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/>
          <p:nvPr/>
        </p:nvSpPr>
        <p:spPr>
          <a:xfrm>
            <a:off x="6211610" y="5261491"/>
            <a:ext cx="2785824" cy="249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USA Leads Production</a:t>
            </a:r>
            <a:endParaRPr b="0" i="0" sz="1550" u="none" cap="none" strike="noStrike"/>
          </a:p>
        </p:txBody>
      </p:sp>
      <p:sp>
        <p:nvSpPr>
          <p:cNvPr id="152" name="Google Shape;152;p15"/>
          <p:cNvSpPr/>
          <p:nvPr/>
        </p:nvSpPr>
        <p:spPr>
          <a:xfrm>
            <a:off x="6211610" y="5577840"/>
            <a:ext cx="7693581" cy="217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The United States contributes the largest share of content, followed by India and the United Kingdom.</a:t>
            </a:r>
            <a:endParaRPr b="0" i="0" sz="1250" u="none" cap="none" strike="noStrike"/>
          </a:p>
        </p:txBody>
      </p:sp>
      <p:sp>
        <p:nvSpPr>
          <p:cNvPr id="153" name="Google Shape;153;p15"/>
          <p:cNvSpPr/>
          <p:nvPr/>
        </p:nvSpPr>
        <p:spPr>
          <a:xfrm>
            <a:off x="6044565" y="6074212"/>
            <a:ext cx="8027670" cy="1675448"/>
          </a:xfrm>
          <a:prstGeom prst="roundRect">
            <a:avLst>
              <a:gd fmla="val 3998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5"/>
          <p:cNvSpPr/>
          <p:nvPr/>
        </p:nvSpPr>
        <p:spPr>
          <a:xfrm>
            <a:off x="6211610" y="6241256"/>
            <a:ext cx="478393" cy="478393"/>
          </a:xfrm>
          <a:prstGeom prst="roundRect">
            <a:avLst>
              <a:gd fmla="val 19112081" name="adj"/>
            </a:avLst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5" name="Google Shape;15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43174" y="6372820"/>
            <a:ext cx="215265" cy="21526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5"/>
          <p:cNvSpPr/>
          <p:nvPr/>
        </p:nvSpPr>
        <p:spPr>
          <a:xfrm>
            <a:off x="6211610" y="6831687"/>
            <a:ext cx="2764036" cy="249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Drama &amp; Comedy Rule</a:t>
            </a:r>
            <a:endParaRPr b="0" i="0" sz="1550" u="none" cap="none" strike="noStrike"/>
          </a:p>
        </p:txBody>
      </p:sp>
      <p:sp>
        <p:nvSpPr>
          <p:cNvPr id="157" name="Google Shape;157;p15"/>
          <p:cNvSpPr/>
          <p:nvPr/>
        </p:nvSpPr>
        <p:spPr>
          <a:xfrm>
            <a:off x="6211610" y="7148036"/>
            <a:ext cx="7693581" cy="434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50"/>
              <a:buFont typeface="Open Sans"/>
              <a:buNone/>
            </a:pPr>
            <a:r>
              <a:rPr b="0" i="0" lang="en-US" sz="12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These two genres consistently top both Movie and TV Show categories, reflecting universal audience appeal.</a:t>
            </a:r>
            <a:endParaRPr b="0" i="0" sz="12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/>
          <p:nvPr/>
        </p:nvSpPr>
        <p:spPr>
          <a:xfrm>
            <a:off x="756642" y="621863"/>
            <a:ext cx="9070062" cy="67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05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4250"/>
              <a:buFont typeface="Unbounded"/>
              <a:buNone/>
            </a:pPr>
            <a:r>
              <a:rPr b="1" i="0" lang="en-US" sz="42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Conclusion &amp; Future Scope</a:t>
            </a:r>
            <a:endParaRPr b="0" i="0" sz="4250" u="none" cap="none" strike="noStrike"/>
          </a:p>
        </p:txBody>
      </p:sp>
      <p:sp>
        <p:nvSpPr>
          <p:cNvPr id="164" name="Google Shape;164;p16"/>
          <p:cNvSpPr/>
          <p:nvPr/>
        </p:nvSpPr>
        <p:spPr>
          <a:xfrm>
            <a:off x="756642" y="1812607"/>
            <a:ext cx="3613071" cy="337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100"/>
              <a:buFont typeface="Unbounded"/>
              <a:buNone/>
            </a:pPr>
            <a:r>
              <a:rPr b="1" i="0" lang="en-US" sz="21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Summary of Findings</a:t>
            </a:r>
            <a:endParaRPr b="0" i="0" sz="2100" u="none" cap="none" strike="noStrike"/>
          </a:p>
        </p:txBody>
      </p:sp>
      <p:sp>
        <p:nvSpPr>
          <p:cNvPr id="165" name="Google Shape;165;p16"/>
          <p:cNvSpPr/>
          <p:nvPr/>
        </p:nvSpPr>
        <p:spPr>
          <a:xfrm>
            <a:off x="756642" y="2356366"/>
            <a:ext cx="6294834" cy="2918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00"/>
              <a:buFont typeface="Open Sans"/>
              <a:buNone/>
            </a:pPr>
            <a:r>
              <a:rPr b="0" i="0" lang="en-US" sz="17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EDA reveals Netflix's strong bias toward </a:t>
            </a:r>
            <a:r>
              <a:rPr b="1" i="0" lang="en-US" sz="17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movies</a:t>
            </a:r>
            <a:r>
              <a:rPr b="0" i="0" lang="en-US" sz="17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b="1" i="0" lang="en-US" sz="17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mature-rated content</a:t>
            </a:r>
            <a:endParaRPr b="0" i="0" sz="1700" u="none" cap="none" strike="noStrike"/>
          </a:p>
          <a:p>
            <a:pPr indent="0" lvl="0" marL="0" marR="0" rtl="0" algn="l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00"/>
              <a:buFont typeface="Open Sans"/>
              <a:buNone/>
            </a:pPr>
            <a:r>
              <a:rPr b="0" i="0" lang="en-US" sz="17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Library growth accelerated sharply </a:t>
            </a:r>
            <a:r>
              <a:rPr b="1" i="0" lang="en-US" sz="17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post-2015</a:t>
            </a:r>
            <a:r>
              <a:rPr b="0" i="0" lang="en-US" sz="17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, driven by originals strategy</a:t>
            </a:r>
            <a:endParaRPr b="0" i="0" sz="1700" u="none" cap="none" strike="noStrike"/>
          </a:p>
          <a:p>
            <a:pPr indent="0" lvl="0" marL="0" marR="0" rtl="0" algn="l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00"/>
              <a:buFont typeface="Open Sans"/>
              <a:buNone/>
            </a:pPr>
            <a:r>
              <a:rPr b="1" i="0" lang="en-US" sz="17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Drama and Comedy</a:t>
            </a:r>
            <a:r>
              <a:rPr b="0" i="0" lang="en-US" sz="17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are the anchor genres across all regions</a:t>
            </a:r>
            <a:endParaRPr b="0" i="0" sz="1700" u="none" cap="none" strike="noStrike"/>
          </a:p>
          <a:p>
            <a:pPr indent="0" lvl="0" marL="0" marR="0" rtl="0" algn="l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00"/>
              <a:buFont typeface="Open Sans"/>
              <a:buNone/>
            </a:pPr>
            <a:r>
              <a:rPr b="0" i="0" lang="en-US" sz="17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The </a:t>
            </a:r>
            <a:r>
              <a:rPr b="1" i="0" lang="en-US" sz="17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USA, India, and UK</a:t>
            </a:r>
            <a:r>
              <a:rPr b="0" i="0" lang="en-US" sz="17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collectively produce the majority of content</a:t>
            </a:r>
            <a:endParaRPr b="0" i="0" sz="1700" u="none" cap="none" strike="noStrike"/>
          </a:p>
        </p:txBody>
      </p:sp>
      <p:sp>
        <p:nvSpPr>
          <p:cNvPr id="166" name="Google Shape;166;p16"/>
          <p:cNvSpPr/>
          <p:nvPr/>
        </p:nvSpPr>
        <p:spPr>
          <a:xfrm>
            <a:off x="756642" y="5506522"/>
            <a:ext cx="6294834" cy="1228844"/>
          </a:xfrm>
          <a:prstGeom prst="roundRect">
            <a:avLst>
              <a:gd fmla="val 7389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7" name="Google Shape;16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741" y="5838825"/>
            <a:ext cx="270153" cy="21609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6"/>
          <p:cNvSpPr/>
          <p:nvPr/>
        </p:nvSpPr>
        <p:spPr>
          <a:xfrm>
            <a:off x="1458992" y="5766435"/>
            <a:ext cx="5376386" cy="675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Open Sans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EDA is not an endpoint — it is the foundation on which every robust data science pipeline is built.</a:t>
            </a:r>
            <a:endParaRPr b="0" i="0" sz="1700" u="none" cap="none" strike="noStrike"/>
          </a:p>
        </p:txBody>
      </p:sp>
      <p:sp>
        <p:nvSpPr>
          <p:cNvPr id="169" name="Google Shape;169;p16"/>
          <p:cNvSpPr/>
          <p:nvPr/>
        </p:nvSpPr>
        <p:spPr>
          <a:xfrm>
            <a:off x="7586543" y="1812607"/>
            <a:ext cx="2702362" cy="337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100"/>
              <a:buFont typeface="Unbounded"/>
              <a:buNone/>
            </a:pPr>
            <a:r>
              <a:rPr b="1" i="0" lang="en-US" sz="21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Future Scope</a:t>
            </a:r>
            <a:endParaRPr b="0" i="0" sz="2100" u="none" cap="none" strike="noStrike"/>
          </a:p>
        </p:txBody>
      </p:sp>
      <p:sp>
        <p:nvSpPr>
          <p:cNvPr id="170" name="Google Shape;170;p16"/>
          <p:cNvSpPr/>
          <p:nvPr/>
        </p:nvSpPr>
        <p:spPr>
          <a:xfrm>
            <a:off x="7586543" y="2382203"/>
            <a:ext cx="432316" cy="270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00"/>
              <a:buFont typeface="Unbounded"/>
              <a:buNone/>
            </a:pPr>
            <a:r>
              <a:rPr b="0" i="0" lang="en-US" sz="1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01</a:t>
            </a:r>
            <a:endParaRPr b="0" i="0" sz="1700" u="none" cap="none" strike="noStrike"/>
          </a:p>
        </p:txBody>
      </p:sp>
      <p:sp>
        <p:nvSpPr>
          <p:cNvPr id="171" name="Google Shape;171;p16"/>
          <p:cNvSpPr/>
          <p:nvPr/>
        </p:nvSpPr>
        <p:spPr>
          <a:xfrm>
            <a:off x="7586543" y="2719030"/>
            <a:ext cx="3044428" cy="30480"/>
          </a:xfrm>
          <a:prstGeom prst="rect">
            <a:avLst/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6"/>
          <p:cNvSpPr/>
          <p:nvPr/>
        </p:nvSpPr>
        <p:spPr>
          <a:xfrm>
            <a:off x="7586543" y="2887980"/>
            <a:ext cx="3044428" cy="675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100"/>
              <a:buFont typeface="Unbounded"/>
              <a:buNone/>
            </a:pPr>
            <a:r>
              <a:rPr b="1" i="0" lang="en-US" sz="21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Sentiment Analysis</a:t>
            </a:r>
            <a:endParaRPr b="0" i="0" sz="2100" u="none" cap="none" strike="noStrike"/>
          </a:p>
        </p:txBody>
      </p:sp>
      <p:sp>
        <p:nvSpPr>
          <p:cNvPr id="173" name="Google Shape;173;p16"/>
          <p:cNvSpPr/>
          <p:nvPr/>
        </p:nvSpPr>
        <p:spPr>
          <a:xfrm>
            <a:off x="7586543" y="3769519"/>
            <a:ext cx="3044428" cy="1351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00"/>
              <a:buFont typeface="Open Sans"/>
              <a:buNone/>
            </a:pPr>
            <a:r>
              <a:rPr b="0" i="0" lang="en-US" sz="17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Mine user reviews and descriptions to gauge audience sentiment by genre and region.</a:t>
            </a:r>
            <a:endParaRPr b="0" i="0" sz="1700" u="none" cap="none" strike="noStrike"/>
          </a:p>
        </p:txBody>
      </p:sp>
      <p:sp>
        <p:nvSpPr>
          <p:cNvPr id="174" name="Google Shape;174;p16"/>
          <p:cNvSpPr/>
          <p:nvPr/>
        </p:nvSpPr>
        <p:spPr>
          <a:xfrm>
            <a:off x="10836950" y="2382203"/>
            <a:ext cx="432316" cy="270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00"/>
              <a:buFont typeface="Unbounded"/>
              <a:buNone/>
            </a:pPr>
            <a:r>
              <a:rPr b="0" i="0" lang="en-US" sz="1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02</a:t>
            </a:r>
            <a:endParaRPr b="0" i="0" sz="1700" u="none" cap="none" strike="noStrike"/>
          </a:p>
        </p:txBody>
      </p:sp>
      <p:sp>
        <p:nvSpPr>
          <p:cNvPr id="175" name="Google Shape;175;p16"/>
          <p:cNvSpPr/>
          <p:nvPr/>
        </p:nvSpPr>
        <p:spPr>
          <a:xfrm>
            <a:off x="10836950" y="2719030"/>
            <a:ext cx="3044428" cy="30480"/>
          </a:xfrm>
          <a:prstGeom prst="rect">
            <a:avLst/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6"/>
          <p:cNvSpPr/>
          <p:nvPr/>
        </p:nvSpPr>
        <p:spPr>
          <a:xfrm>
            <a:off x="10836950" y="2887980"/>
            <a:ext cx="3044428" cy="675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100"/>
              <a:buFont typeface="Unbounded"/>
              <a:buNone/>
            </a:pPr>
            <a:r>
              <a:rPr b="1" i="0" lang="en-US" sz="21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Recommendation Systems</a:t>
            </a:r>
            <a:endParaRPr b="0" i="0" sz="2100" u="none" cap="none" strike="noStrike"/>
          </a:p>
        </p:txBody>
      </p:sp>
      <p:sp>
        <p:nvSpPr>
          <p:cNvPr id="177" name="Google Shape;177;p16"/>
          <p:cNvSpPr/>
          <p:nvPr/>
        </p:nvSpPr>
        <p:spPr>
          <a:xfrm>
            <a:off x="10836950" y="3769519"/>
            <a:ext cx="3044428" cy="1351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00"/>
              <a:buFont typeface="Open Sans"/>
              <a:buNone/>
            </a:pPr>
            <a:r>
              <a:rPr b="0" i="0" lang="en-US" sz="17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Use content metadata to build collaborative and content-based filtering models.</a:t>
            </a:r>
            <a:endParaRPr b="0" i="0" sz="1700" u="none" cap="none" strike="noStrike"/>
          </a:p>
        </p:txBody>
      </p:sp>
      <p:sp>
        <p:nvSpPr>
          <p:cNvPr id="178" name="Google Shape;178;p16"/>
          <p:cNvSpPr/>
          <p:nvPr/>
        </p:nvSpPr>
        <p:spPr>
          <a:xfrm>
            <a:off x="7586543" y="5488662"/>
            <a:ext cx="432316" cy="270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00"/>
              <a:buFont typeface="Unbounded"/>
              <a:buNone/>
            </a:pPr>
            <a:r>
              <a:rPr b="0" i="0" lang="en-US" sz="1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03</a:t>
            </a:r>
            <a:endParaRPr b="0" i="0" sz="1700" u="none" cap="none" strike="noStrike"/>
          </a:p>
        </p:txBody>
      </p:sp>
      <p:sp>
        <p:nvSpPr>
          <p:cNvPr id="179" name="Google Shape;179;p16"/>
          <p:cNvSpPr/>
          <p:nvPr/>
        </p:nvSpPr>
        <p:spPr>
          <a:xfrm>
            <a:off x="7586543" y="5825490"/>
            <a:ext cx="6294834" cy="30480"/>
          </a:xfrm>
          <a:prstGeom prst="rect">
            <a:avLst/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>
            <a:off x="7586543" y="5994440"/>
            <a:ext cx="3641765" cy="337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100"/>
              <a:buFont typeface="Unbounded"/>
              <a:buNone/>
            </a:pPr>
            <a:r>
              <a:rPr b="1" i="0" lang="en-US" sz="21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Predictive ML Models</a:t>
            </a:r>
            <a:endParaRPr b="0" i="0" sz="2100" u="none" cap="none" strike="noStrike"/>
          </a:p>
        </p:txBody>
      </p:sp>
      <p:sp>
        <p:nvSpPr>
          <p:cNvPr id="181" name="Google Shape;181;p16"/>
          <p:cNvSpPr/>
          <p:nvPr/>
        </p:nvSpPr>
        <p:spPr>
          <a:xfrm>
            <a:off x="7586543" y="6538198"/>
            <a:ext cx="6294834" cy="675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00"/>
              <a:buFont typeface="Open Sans"/>
              <a:buNone/>
            </a:pPr>
            <a:r>
              <a:rPr b="0" i="0" lang="en-US" sz="17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Forecast content performance and predict ratings using historical trends from this dataset.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